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4ae3db4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4ae3db4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4ae3db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4ae3db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e4ae3db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e4ae3db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4ae3db4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e4ae3db4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e4ae3db4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e4ae3db4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e4ae3db4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e4ae3db4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e4ae3db4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e4ae3db4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e4ae3db4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e4ae3db4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4ae3db4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e4ae3db4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latin typeface="Georgia"/>
                <a:ea typeface="Georgia"/>
                <a:cs typeface="Georgia"/>
                <a:sym typeface="Georgia"/>
              </a:rPr>
              <a:t>Setting Up Pre-School Classrooms</a:t>
            </a:r>
            <a:endParaRPr sz="5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280">
                <a:latin typeface="Georgia"/>
                <a:ea typeface="Georgia"/>
                <a:cs typeface="Georgia"/>
                <a:sym typeface="Georgia"/>
              </a:rPr>
              <a:t>Samuel De La Paz, Nate Edenfield, </a:t>
            </a:r>
            <a:endParaRPr sz="228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280">
                <a:latin typeface="Georgia"/>
                <a:ea typeface="Georgia"/>
                <a:cs typeface="Georgia"/>
                <a:sym typeface="Georgia"/>
              </a:rPr>
              <a:t>Chris Oueis, Rahul Tejannavar</a:t>
            </a:r>
            <a:endParaRPr sz="228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We need some help!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5778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oup of school children sitting at classroom desks (Provided by Getty Images)" id="66" name="Google Shape;66;p15"/>
          <p:cNvPicPr preferRelativeResize="0"/>
          <p:nvPr/>
        </p:nvPicPr>
        <p:blipFill rotWithShape="1">
          <a:blip r:embed="rId3">
            <a:alphaModFix/>
          </a:blip>
          <a:srcRect b="51898" l="0" r="73535" t="0"/>
          <a:stretch/>
        </p:blipFill>
        <p:spPr>
          <a:xfrm>
            <a:off x="1249394" y="762025"/>
            <a:ext cx="756925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67" name="Google Shape;67;p15"/>
          <p:cNvPicPr preferRelativeResize="0"/>
          <p:nvPr/>
        </p:nvPicPr>
        <p:blipFill rotWithShape="1">
          <a:blip r:embed="rId3">
            <a:alphaModFix/>
          </a:blip>
          <a:srcRect b="51898" l="26613" r="49632" t="0"/>
          <a:stretch/>
        </p:blipFill>
        <p:spPr>
          <a:xfrm>
            <a:off x="2938450" y="2821675"/>
            <a:ext cx="679424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68" name="Google Shape;68;p15"/>
          <p:cNvPicPr preferRelativeResize="0"/>
          <p:nvPr/>
        </p:nvPicPr>
        <p:blipFill rotWithShape="1">
          <a:blip r:embed="rId3">
            <a:alphaModFix/>
          </a:blip>
          <a:srcRect b="51898" l="48785" r="24750" t="0"/>
          <a:stretch/>
        </p:blipFill>
        <p:spPr>
          <a:xfrm>
            <a:off x="1171169" y="1522800"/>
            <a:ext cx="756925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69" name="Google Shape;69;p15"/>
          <p:cNvPicPr preferRelativeResize="0"/>
          <p:nvPr/>
        </p:nvPicPr>
        <p:blipFill rotWithShape="1">
          <a:blip r:embed="rId3">
            <a:alphaModFix/>
          </a:blip>
          <a:srcRect b="51898" l="73535" r="0" t="0"/>
          <a:stretch/>
        </p:blipFill>
        <p:spPr>
          <a:xfrm>
            <a:off x="3267282" y="1066825"/>
            <a:ext cx="756925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76245" t="51898"/>
          <a:stretch/>
        </p:blipFill>
        <p:spPr>
          <a:xfrm>
            <a:off x="1658374" y="2329200"/>
            <a:ext cx="679424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71" name="Google Shape;71;p15"/>
          <p:cNvPicPr preferRelativeResize="0"/>
          <p:nvPr/>
        </p:nvPicPr>
        <p:blipFill rotWithShape="1">
          <a:blip r:embed="rId3">
            <a:alphaModFix/>
          </a:blip>
          <a:srcRect b="0" l="24235" r="52010" t="51898"/>
          <a:stretch/>
        </p:blipFill>
        <p:spPr>
          <a:xfrm>
            <a:off x="2311125" y="1262000"/>
            <a:ext cx="679424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72" name="Google Shape;72;p15"/>
          <p:cNvPicPr preferRelativeResize="0"/>
          <p:nvPr/>
        </p:nvPicPr>
        <p:blipFill rotWithShape="1">
          <a:blip r:embed="rId3">
            <a:alphaModFix/>
          </a:blip>
          <a:srcRect b="-611" l="49103" r="24432" t="52509"/>
          <a:stretch/>
        </p:blipFill>
        <p:spPr>
          <a:xfrm>
            <a:off x="3617869" y="2168875"/>
            <a:ext cx="756925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school children sitting at classroom desks (Provided by Getty Images)" id="73" name="Google Shape;73;p15"/>
          <p:cNvPicPr preferRelativeResize="0"/>
          <p:nvPr/>
        </p:nvPicPr>
        <p:blipFill rotWithShape="1">
          <a:blip r:embed="rId3">
            <a:alphaModFix/>
          </a:blip>
          <a:srcRect b="-2280" l="73535" r="0" t="54178"/>
          <a:stretch/>
        </p:blipFill>
        <p:spPr>
          <a:xfrm>
            <a:off x="4523169" y="1135750"/>
            <a:ext cx="756925" cy="90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77347" t="0"/>
          <a:stretch/>
        </p:blipFill>
        <p:spPr>
          <a:xfrm>
            <a:off x="5002121" y="2056550"/>
            <a:ext cx="1011300" cy="24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0" l="21648" r="57626" t="0"/>
          <a:stretch/>
        </p:blipFill>
        <p:spPr>
          <a:xfrm>
            <a:off x="7905125" y="2289725"/>
            <a:ext cx="925286" cy="24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b="0" l="40852" r="41173" t="0"/>
          <a:stretch/>
        </p:blipFill>
        <p:spPr>
          <a:xfrm>
            <a:off x="6418899" y="2429675"/>
            <a:ext cx="802476" cy="24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4">
            <a:alphaModFix/>
          </a:blip>
          <a:srcRect b="0" l="59917" r="22108" t="0"/>
          <a:stretch/>
        </p:blipFill>
        <p:spPr>
          <a:xfrm>
            <a:off x="6418888" y="370625"/>
            <a:ext cx="802476" cy="24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4">
            <a:alphaModFix/>
          </a:blip>
          <a:srcRect b="0" l="77347" r="0" t="0"/>
          <a:stretch/>
        </p:blipFill>
        <p:spPr>
          <a:xfrm>
            <a:off x="7796949" y="301700"/>
            <a:ext cx="802476" cy="1933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disco ball with squares on it is on a white background (Provided by Tenor)"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5296" y="127550"/>
            <a:ext cx="925275" cy="8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7905125" y="4168925"/>
            <a:ext cx="1159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eorgia"/>
                <a:ea typeface="Georgia"/>
                <a:cs typeface="Georgia"/>
                <a:sym typeface="Georgia"/>
              </a:rPr>
              <a:t>ESL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eorgia"/>
                <a:ea typeface="Georgia"/>
                <a:cs typeface="Georgia"/>
                <a:sym typeface="Georgia"/>
              </a:rPr>
              <a:t>Special Ed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240238" y="2168875"/>
            <a:ext cx="1159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Certifications: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ESL</a:t>
            </a:r>
            <a:endParaRPr sz="900"/>
          </a:p>
        </p:txBody>
      </p:sp>
      <p:sp>
        <p:nvSpPr>
          <p:cNvPr id="82" name="Google Shape;82;p15"/>
          <p:cNvSpPr/>
          <p:nvPr/>
        </p:nvSpPr>
        <p:spPr>
          <a:xfrm>
            <a:off x="6320100" y="4355600"/>
            <a:ext cx="1159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eorgia"/>
                <a:ea typeface="Georgia"/>
                <a:cs typeface="Georgia"/>
                <a:sym typeface="Georgia"/>
              </a:rPr>
              <a:t>Special Ed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968025" y="3982475"/>
            <a:ext cx="1159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Certifications: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Special Ed</a:t>
            </a:r>
            <a:endParaRPr sz="900"/>
          </a:p>
        </p:txBody>
      </p:sp>
      <p:sp>
        <p:nvSpPr>
          <p:cNvPr id="84" name="Google Shape;84;p15"/>
          <p:cNvSpPr/>
          <p:nvPr/>
        </p:nvSpPr>
        <p:spPr>
          <a:xfrm>
            <a:off x="6240238" y="2189225"/>
            <a:ext cx="1159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eorgia"/>
                <a:ea typeface="Georgia"/>
                <a:cs typeface="Georgia"/>
                <a:sym typeface="Georgia"/>
              </a:rPr>
              <a:t>ESL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968025" y="4002825"/>
            <a:ext cx="1159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eorgia"/>
                <a:ea typeface="Georgia"/>
                <a:cs typeface="Georgia"/>
                <a:sym typeface="Georgia"/>
              </a:rPr>
              <a:t>Special Ed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579900" y="487450"/>
            <a:ext cx="2193600" cy="143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475200" y="487450"/>
            <a:ext cx="2193600" cy="143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6426250" y="487450"/>
            <a:ext cx="2193600" cy="143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79900" y="2858625"/>
            <a:ext cx="2193600" cy="143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475200" y="2918575"/>
            <a:ext cx="2193600" cy="143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1164000" y="83950"/>
            <a:ext cx="10254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Room #1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059300" y="122350"/>
            <a:ext cx="1025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Room #2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010350" y="122350"/>
            <a:ext cx="1025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Room #3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077975" y="2469425"/>
            <a:ext cx="1025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Room #4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096275" y="2531925"/>
            <a:ext cx="1025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Room #5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77347" t="0"/>
          <a:stretch/>
        </p:blipFill>
        <p:spPr>
          <a:xfrm>
            <a:off x="7878691" y="493760"/>
            <a:ext cx="586263" cy="14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21648" r="57626" t="0"/>
          <a:stretch/>
        </p:blipFill>
        <p:spPr>
          <a:xfrm>
            <a:off x="5030799" y="2916847"/>
            <a:ext cx="536399" cy="14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40852" r="41173" t="0"/>
          <a:stretch/>
        </p:blipFill>
        <p:spPr>
          <a:xfrm>
            <a:off x="2093340" y="2916841"/>
            <a:ext cx="465206" cy="14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59917" r="22108" t="0"/>
          <a:stretch/>
        </p:blipFill>
        <p:spPr>
          <a:xfrm>
            <a:off x="2206933" y="499682"/>
            <a:ext cx="465206" cy="14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77347" r="0" t="0"/>
          <a:stretch/>
        </p:blipFill>
        <p:spPr>
          <a:xfrm>
            <a:off x="5084688" y="581500"/>
            <a:ext cx="465206" cy="112109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5030799" y="4006245"/>
            <a:ext cx="672300" cy="296400"/>
          </a:xfrm>
          <a:prstGeom prst="rect">
            <a:avLst/>
          </a:prstGeom>
          <a:solidFill>
            <a:schemeClr val="lt2"/>
          </a:solidFill>
          <a:ln cap="flat" cmpd="sng" w="5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000" lIns="53000" spcFirstLastPara="1" rIns="53000" wrap="square" tIns="5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1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52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1">
                <a:latin typeface="Georgia"/>
                <a:ea typeface="Georgia"/>
                <a:cs typeface="Georgia"/>
                <a:sym typeface="Georgia"/>
              </a:rPr>
              <a:t>ESL</a:t>
            </a:r>
            <a:endParaRPr sz="52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1">
                <a:latin typeface="Georgia"/>
                <a:ea typeface="Georgia"/>
                <a:cs typeface="Georgia"/>
                <a:sym typeface="Georgia"/>
              </a:rPr>
              <a:t>Special Ed</a:t>
            </a:r>
            <a:endParaRPr sz="52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036065" y="4033325"/>
            <a:ext cx="672300" cy="296400"/>
          </a:xfrm>
          <a:prstGeom prst="rect">
            <a:avLst/>
          </a:prstGeom>
          <a:solidFill>
            <a:schemeClr val="lt2"/>
          </a:solidFill>
          <a:ln cap="flat" cmpd="sng" w="5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000" lIns="53000" spcFirstLastPara="1" rIns="53000" wrap="square" tIns="5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1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52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1">
                <a:latin typeface="Georgia"/>
                <a:ea typeface="Georgia"/>
                <a:cs typeface="Georgia"/>
                <a:sym typeface="Georgia"/>
              </a:rPr>
              <a:t>Special Ed</a:t>
            </a:r>
            <a:endParaRPr sz="52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103368" y="1553949"/>
            <a:ext cx="672300" cy="296400"/>
          </a:xfrm>
          <a:prstGeom prst="rect">
            <a:avLst/>
          </a:prstGeom>
          <a:solidFill>
            <a:schemeClr val="lt2"/>
          </a:solidFill>
          <a:ln cap="flat" cmpd="sng" w="5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000" lIns="53000" spcFirstLastPara="1" rIns="53000" wrap="square" tIns="5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1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52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1">
                <a:latin typeface="Georgia"/>
                <a:ea typeface="Georgia"/>
                <a:cs typeface="Georgia"/>
                <a:sym typeface="Georgia"/>
              </a:rPr>
              <a:t>ESL</a:t>
            </a:r>
            <a:endParaRPr sz="52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858925" y="1622042"/>
            <a:ext cx="672300" cy="296400"/>
          </a:xfrm>
          <a:prstGeom prst="rect">
            <a:avLst/>
          </a:prstGeom>
          <a:solidFill>
            <a:schemeClr val="lt2"/>
          </a:solidFill>
          <a:ln cap="flat" cmpd="sng" w="5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000" lIns="53000" spcFirstLastPara="1" rIns="53000" wrap="square" tIns="5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1">
                <a:latin typeface="Georgia"/>
                <a:ea typeface="Georgia"/>
                <a:cs typeface="Georgia"/>
                <a:sym typeface="Georgia"/>
              </a:rPr>
              <a:t>Certifications:</a:t>
            </a:r>
            <a:endParaRPr b="1" sz="52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1">
                <a:latin typeface="Georgia"/>
                <a:ea typeface="Georgia"/>
                <a:cs typeface="Georgia"/>
                <a:sym typeface="Georgia"/>
              </a:rPr>
              <a:t>Special Ed</a:t>
            </a:r>
            <a:endParaRPr sz="52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23629" r="56907" t="0"/>
          <a:stretch/>
        </p:blipFill>
        <p:spPr>
          <a:xfrm>
            <a:off x="1815351" y="152400"/>
            <a:ext cx="136992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42958" r="39130" t="0"/>
          <a:stretch/>
        </p:blipFill>
        <p:spPr>
          <a:xfrm>
            <a:off x="3664300" y="111500"/>
            <a:ext cx="126067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60512" r="21577" t="0"/>
          <a:stretch/>
        </p:blipFill>
        <p:spPr>
          <a:xfrm>
            <a:off x="5312700" y="111500"/>
            <a:ext cx="126067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78543" r="1993" t="0"/>
          <a:stretch/>
        </p:blipFill>
        <p:spPr>
          <a:xfrm>
            <a:off x="7204825" y="152400"/>
            <a:ext cx="136992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226925" y="310975"/>
            <a:ext cx="25044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Paraprofessionals?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76908" t="0"/>
          <a:stretch/>
        </p:blipFill>
        <p:spPr>
          <a:xfrm>
            <a:off x="152400" y="152400"/>
            <a:ext cx="2041149" cy="48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21501" r="55407" t="0"/>
          <a:stretch/>
        </p:blipFill>
        <p:spPr>
          <a:xfrm>
            <a:off x="2288225" y="254375"/>
            <a:ext cx="2041149" cy="48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700" l="42272" r="40423" t="-700"/>
          <a:stretch/>
        </p:blipFill>
        <p:spPr>
          <a:xfrm>
            <a:off x="4118150" y="318200"/>
            <a:ext cx="1529600" cy="48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57147" r="21035" t="0"/>
          <a:stretch/>
        </p:blipFill>
        <p:spPr>
          <a:xfrm>
            <a:off x="5568200" y="159100"/>
            <a:ext cx="1928550" cy="48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77301" r="-393" t="0"/>
          <a:stretch/>
        </p:blipFill>
        <p:spPr>
          <a:xfrm>
            <a:off x="6998100" y="417400"/>
            <a:ext cx="2041149" cy="48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437025" y="168100"/>
            <a:ext cx="2496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Backups Characters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5778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5778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We did it,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Hooray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!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7690" r="5813" t="0"/>
          <a:stretch/>
        </p:blipFill>
        <p:spPr>
          <a:xfrm>
            <a:off x="1857375" y="1069275"/>
            <a:ext cx="480732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2"/>
          <p:cNvGrpSpPr/>
          <p:nvPr/>
        </p:nvGrpSpPr>
        <p:grpSpPr>
          <a:xfrm>
            <a:off x="1437150" y="220475"/>
            <a:ext cx="5853675" cy="4871976"/>
            <a:chOff x="1437150" y="220475"/>
            <a:chExt cx="5853675" cy="4871976"/>
          </a:xfrm>
        </p:grpSpPr>
        <p:pic>
          <p:nvPicPr>
            <p:cNvPr id="151" name="Google Shape;151;p22"/>
            <p:cNvPicPr preferRelativeResize="0"/>
            <p:nvPr/>
          </p:nvPicPr>
          <p:blipFill rotWithShape="1">
            <a:blip r:embed="rId3">
              <a:alphaModFix/>
            </a:blip>
            <a:srcRect b="0" l="21899" r="0" t="0"/>
            <a:stretch/>
          </p:blipFill>
          <p:spPr>
            <a:xfrm>
              <a:off x="1756525" y="220475"/>
              <a:ext cx="5534300" cy="4871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2"/>
            <p:cNvSpPr/>
            <p:nvPr/>
          </p:nvSpPr>
          <p:spPr>
            <a:xfrm>
              <a:off x="1437150" y="2042275"/>
              <a:ext cx="445500" cy="12438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22"/>
          <p:cNvSpPr txBox="1"/>
          <p:nvPr>
            <p:ph type="title"/>
          </p:nvPr>
        </p:nvSpPr>
        <p:spPr>
          <a:xfrm>
            <a:off x="362100" y="22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